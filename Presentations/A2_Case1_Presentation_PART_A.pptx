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0E2D7-F55F-B5FA-798B-5E313A18B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91492B-8302-6CC7-1783-A8039B5EA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714181-ECDA-6FB7-5A8D-284F690A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EAE4DA-F7EC-51CD-5F93-8C1810A1C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6B37DF-3CD9-3123-90E2-9E8C96F9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16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18E94-D792-A34A-E4C6-D280ABA7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6877CD-0E31-7359-F695-280E531A8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98FCAB-8498-344B-5659-95381E787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446924-33E5-2320-1C6B-3D90F6849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B22356-0DCF-F63F-11CC-0A7ACF80B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984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5ECF1-D245-7C49-A170-FD314DC95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9311E7-C4EE-B1D0-3990-FDFB343C8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D950A0-2563-D248-0289-C4A51EDC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6BA731-8D50-FA02-7805-24C0DDC2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88021F-C0DF-A2D0-6F35-9B12FA13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21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31F5E-61B1-18A8-B1B7-E470E059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C7B75A-42B2-BFDE-0956-F3AA856FB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AB1352-387D-80A3-BE13-96EC9FBBD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D31286-3B45-4CC3-F448-B937F9FD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A58938-B4F6-23CD-0293-890494ECB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2CD732-E564-62B6-ED15-3AE9EC1E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69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50C05-51EC-0FAC-5785-A31964160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3FE853-8BBB-4249-12FD-26F24146A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7B3B65-EB1B-BE89-4FFA-924E563E8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CBA965-F3D4-6C2F-4D96-02674B19D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428746-A1A3-9291-9018-4EB0250FE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6F58C2-0BFC-EB2F-B2D2-01513FC5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9925FD-C74D-AB8E-62ED-4EB786AE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C0EE85-2441-B951-4574-590D6E05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65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EE12D-780C-9DCF-3127-34787B51D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586018-133E-E18B-1850-4B85EDFDA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24B08B-7E91-6F4C-55E9-3AB162253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1BBDCA-2572-6F9A-29A6-F43C7A82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0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B42964-B8A9-6D47-24D0-3A44D3FC7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6B94D0-A112-8CC3-4F5F-7502CC78F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8A0B54-FDC9-BCD1-56DB-1644ED39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68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50CBC6-4FBE-A670-14E2-F03B1EDA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659CB6-9007-B2CF-B84D-6B74852CF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AD538D-A396-D2B3-9830-3130783BD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2F04A9-F9CD-C3E7-1B57-3EC5DB13E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BC4C44-BBD3-4F5A-9870-1D06FCC76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EFAF74-0A7A-5298-A871-73358AD4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17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F77E2-4638-8632-6984-A617B0D13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69800C-D825-5778-8163-61478A756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A53C59-6169-E21A-7AC7-9308C3F70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21A903-E6DE-C0BC-BC13-A2B0C9071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F296C1-D7D9-8D10-6458-72BDEBFA0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40323F-89B0-B080-92E7-1C28309A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0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56A71-D184-D753-F15C-BFB7C8C1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85F115-E516-4A9B-2853-9702DAF40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D5E4E9-DF6A-E4D8-FF12-7BDBB2E3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3A9117-5E79-4352-35C0-37551596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474B6A-A754-7119-D9B0-CFB1CBF4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49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A72153-35B0-BAA7-6AD9-54AABBB05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23BE17-CB74-FF76-A9EF-89C791FC0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2EDD4A-AEF0-8CEA-4909-AF222BA28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6C7D42-8734-BC8B-8836-F9754E09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9D51E-659E-F0E6-7419-6C078E10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916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787FBD-FE49-EE62-C67D-23F2D3BE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313878-7E02-DF8D-5890-E3D2162E3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8E2B77-E5EE-69D3-D177-AB7FB0178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A6729-0F74-4FED-9C45-1540E0619A3B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79947D-A7A8-6692-A567-B421C054B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A6DE1-7314-38F3-DA8C-6F11187AB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795F2-D431-4687-8518-D64185568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699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731520" y="390144"/>
            <a:ext cx="10728960" cy="2616365"/>
          </a:xfrm>
        </p:spPr>
        <p:txBody>
          <a:bodyPr anchor="ctr"/>
          <a:lstStyle/>
          <a:p>
            <a:pPr algn="ctr"/>
            <a:r>
              <a:rPr lang="en-US" sz="4000" b="1" dirty="0">
                <a:solidFill>
                  <a:srgbClr val="16324F"/>
                </a:solidFill>
              </a:rPr>
              <a:t>A2 Case1: AI-Assisted Network Security Analysis</a:t>
            </a:r>
          </a:p>
        </p:txBody>
      </p:sp>
      <p:sp>
        <p:nvSpPr>
          <p:cNvPr id="3" name="Content 1"/>
          <p:cNvSpPr txBox="1"/>
          <p:nvPr/>
        </p:nvSpPr>
        <p:spPr>
          <a:xfrm>
            <a:off x="1016000" y="1422400"/>
            <a:ext cx="10160000" cy="4226560"/>
          </a:xfrm>
        </p:spPr>
        <p:txBody>
          <a:bodyPr lIns="121920" tIns="121920" rIns="121920" bIns="121920" anchor="t"/>
          <a:lstStyle/>
          <a:p>
            <a:pPr marL="152396"/>
            <a:endParaRPr lang="en-US" sz="2200" dirty="0"/>
          </a:p>
        </p:txBody>
      </p:sp>
      <p:sp>
        <p:nvSpPr>
          <p:cNvPr id="4" name="SpeakerNote 1"/>
          <p:cNvSpPr txBox="1"/>
          <p:nvPr/>
        </p:nvSpPr>
        <p:spPr>
          <a:xfrm>
            <a:off x="1016000" y="5852160"/>
            <a:ext cx="10160000" cy="487680"/>
          </a:xfrm>
        </p:spPr>
        <p:txBody>
          <a:bodyPr anchor="ctr"/>
          <a:lstStyle/>
          <a:p>
            <a:r>
              <a:rPr lang="en-US" sz="1600" i="1">
                <a:solidFill>
                  <a:srgbClr val="666666"/>
                </a:solidFill>
              </a:rPr>
              <a:t>Speaker 1: introduce the APK, workflow, and high-level finding.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3C4293-BBB4-B293-88BD-3EFF1F00C881}"/>
              </a:ext>
            </a:extLst>
          </p:cNvPr>
          <p:cNvSpPr txBox="1"/>
          <p:nvPr/>
        </p:nvSpPr>
        <p:spPr>
          <a:xfrm>
            <a:off x="1992437" y="4157008"/>
            <a:ext cx="80620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altLang="zh-CN" sz="2400" b="1" dirty="0"/>
              <a:t>Tutorial 28 Group 5</a:t>
            </a:r>
          </a:p>
          <a:p>
            <a:pPr algn="ctr"/>
            <a:r>
              <a:rPr lang="en-US" altLang="zh-CN" sz="2400" dirty="0"/>
              <a:t>Tareq </a:t>
            </a:r>
            <a:r>
              <a:rPr lang="en-US" altLang="zh-CN" sz="2400" dirty="0" err="1"/>
              <a:t>Alsubaie</a:t>
            </a:r>
            <a:r>
              <a:rPr lang="en-US" altLang="zh-CN" sz="2400" dirty="0"/>
              <a:t>, Bharathwaj Murali, Peisen Zheng, Nishanth Shanmugasundaram, Shyam Karthick</a:t>
            </a:r>
          </a:p>
          <a:p>
            <a:endParaRPr lang="zh-CN" altLang="en-US" sz="2400" dirty="0"/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390144"/>
            <a:ext cx="10728960" cy="853440"/>
          </a:xfrm>
        </p:spPr>
        <p:txBody>
          <a:bodyPr anchor="ctr"/>
          <a:lstStyle/>
          <a:p>
            <a:r>
              <a:rPr lang="en-US" sz="4000" b="1">
                <a:solidFill>
                  <a:srgbClr val="16324F"/>
                </a:solidFill>
              </a:rPr>
              <a:t>Decompilation and App Behaviour</a:t>
            </a:r>
          </a:p>
        </p:txBody>
      </p:sp>
      <p:sp>
        <p:nvSpPr>
          <p:cNvPr id="3" name="Content 2"/>
          <p:cNvSpPr txBox="1"/>
          <p:nvPr/>
        </p:nvSpPr>
        <p:spPr>
          <a:xfrm>
            <a:off x="1016000" y="1422400"/>
            <a:ext cx="10160000" cy="4226560"/>
          </a:xfrm>
        </p:spPr>
        <p:txBody>
          <a:bodyPr lIns="121920" tIns="121920" rIns="121920" bIns="121920" anchor="t"/>
          <a:lstStyle/>
          <a:p>
            <a:pPr marL="457189" indent="-304792">
              <a:buChar char="•"/>
            </a:pPr>
            <a:r>
              <a:rPr lang="en-US" sz="2200"/>
              <a:t>Tooling: JADX/static analysis plus unpacked APK resource and manifest inspection</a:t>
            </a:r>
          </a:p>
          <a:p>
            <a:pPr marL="457189" indent="-304792">
              <a:buChar char="•"/>
            </a:pPr>
            <a:r>
              <a:rPr lang="en-US" sz="2200"/>
              <a:t>Manifest strings include android.permission.INTERNET</a:t>
            </a:r>
          </a:p>
          <a:p>
            <a:pPr marL="457189" indent="-304792">
              <a:buChar char="•"/>
            </a:pPr>
            <a:r>
              <a:rPr lang="en-US" sz="2200"/>
              <a:t>Manifest also contains usesCleartextTraffic, so cleartext transport is relevant to app configuration</a:t>
            </a:r>
          </a:p>
          <a:p>
            <a:pPr marL="457189" indent="-304792">
              <a:buChar char="•"/>
            </a:pPr>
            <a:r>
              <a:rPr lang="en-US" sz="2200"/>
              <a:t>MainActivity loads activity_main, retrieves R.id.webview, attaches a custom WebViewClient</a:t>
            </a:r>
          </a:p>
          <a:p>
            <a:pPr marL="457189" indent="-304792">
              <a:buChar char="•"/>
            </a:pPr>
            <a:r>
              <a:rPr lang="en-US" sz="2200"/>
              <a:t>The app then loads a remote URL directly inside the WebView</a:t>
            </a:r>
          </a:p>
          <a:p>
            <a:pPr marL="457189" indent="-304792">
              <a:buChar char="•"/>
            </a:pPr>
            <a:r>
              <a:rPr lang="en-US" sz="2200"/>
              <a:t>There is no evidence of a backend API client; the main network surface is WebView content loading</a:t>
            </a:r>
          </a:p>
        </p:txBody>
      </p:sp>
      <p:sp>
        <p:nvSpPr>
          <p:cNvPr id="4" name="SpeakerNote 2"/>
          <p:cNvSpPr txBox="1"/>
          <p:nvPr/>
        </p:nvSpPr>
        <p:spPr>
          <a:xfrm>
            <a:off x="1016000" y="5852160"/>
            <a:ext cx="10160000" cy="487680"/>
          </a:xfrm>
        </p:spPr>
        <p:txBody>
          <a:bodyPr anchor="ctr"/>
          <a:lstStyle/>
          <a:p>
            <a:r>
              <a:rPr lang="en-US" sz="1600" i="1">
                <a:solidFill>
                  <a:srgbClr val="666666"/>
                </a:solidFill>
              </a:rPr>
              <a:t>Speaker 1/2: explain how the app was inspected and what it does.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731520" y="390144"/>
            <a:ext cx="10728960" cy="853440"/>
          </a:xfrm>
        </p:spPr>
        <p:txBody>
          <a:bodyPr anchor="ctr"/>
          <a:lstStyle/>
          <a:p>
            <a:r>
              <a:rPr lang="en-US" sz="4000" b="1">
                <a:solidFill>
                  <a:srgbClr val="16324F"/>
                </a:solidFill>
              </a:rPr>
              <a:t>System and Threat Model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1016000" y="1422400"/>
            <a:ext cx="10160000" cy="4226560"/>
          </a:xfrm>
        </p:spPr>
        <p:txBody>
          <a:bodyPr lIns="121920" tIns="121920" rIns="121920" bIns="121920" anchor="t"/>
          <a:lstStyle/>
          <a:p>
            <a:pPr marL="457189" indent="-304792">
              <a:buChar char="•"/>
            </a:pPr>
            <a:r>
              <a:rPr lang="en-US" sz="2200"/>
              <a:t>System: User -&gt; Android app MainActivity/WebView -&gt; network -&gt; remote web server</a:t>
            </a:r>
          </a:p>
          <a:p>
            <a:pPr marL="457189" indent="-304792">
              <a:buChar char="•"/>
            </a:pPr>
            <a:r>
              <a:rPr lang="en-US" sz="2200"/>
              <a:t>Trust boundary: traffic between the app and the remote server</a:t>
            </a:r>
          </a:p>
          <a:p>
            <a:pPr marL="457189" indent="-304792">
              <a:buChar char="•"/>
            </a:pPr>
            <a:r>
              <a:rPr lang="en-US" sz="2200"/>
              <a:t>Attacker: on-path network attacker, not a rooted-device attacker</a:t>
            </a:r>
          </a:p>
          <a:p>
            <a:pPr marL="457189" indent="-304792">
              <a:buChar char="•"/>
            </a:pPr>
            <a:r>
              <a:rPr lang="en-US" sz="2200"/>
              <a:t>Examples: same Wi-Fi user, rogue hotspot, captive portal, malicious proxy, enterprise proxy</a:t>
            </a:r>
          </a:p>
          <a:p>
            <a:pPr marL="457189" indent="-304792">
              <a:buChar char="•"/>
            </a:pPr>
            <a:r>
              <a:rPr lang="en-US" sz="2200"/>
              <a:t>Attacker capabilities: observe, block, redirect, and modify network traffic</a:t>
            </a:r>
          </a:p>
          <a:p>
            <a:pPr marL="457189" indent="-304792">
              <a:buChar char="•"/>
            </a:pPr>
            <a:r>
              <a:rPr lang="en-US" sz="2200"/>
              <a:t>Protected assets: WebView content integrity, confidentiality of future user input, user trust in app UI</a:t>
            </a:r>
          </a:p>
        </p:txBody>
      </p:sp>
      <p:sp>
        <p:nvSpPr>
          <p:cNvPr id="4" name="SpeakerNote 3"/>
          <p:cNvSpPr txBox="1"/>
          <p:nvPr/>
        </p:nvSpPr>
        <p:spPr>
          <a:xfrm>
            <a:off x="1016000" y="5852160"/>
            <a:ext cx="10160000" cy="487680"/>
          </a:xfrm>
        </p:spPr>
        <p:txBody>
          <a:bodyPr anchor="ctr"/>
          <a:lstStyle/>
          <a:p>
            <a:r>
              <a:rPr lang="en-US" sz="1600" i="1">
                <a:solidFill>
                  <a:srgbClr val="666666"/>
                </a:solidFill>
              </a:rPr>
              <a:t>Speaker 2: explain the model and explicitly link attacker capabilities to protected assets.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/>
          <p:nvPr/>
        </p:nvSpPr>
        <p:spPr>
          <a:xfrm>
            <a:off x="731520" y="390144"/>
            <a:ext cx="10728960" cy="853440"/>
          </a:xfrm>
        </p:spPr>
        <p:txBody>
          <a:bodyPr anchor="ctr"/>
          <a:lstStyle/>
          <a:p>
            <a:r>
              <a:rPr lang="en-US" sz="4000" b="1">
                <a:solidFill>
                  <a:srgbClr val="16324F"/>
                </a:solidFill>
              </a:rPr>
              <a:t>Evidence 1: Cleartext WebView Load</a:t>
            </a:r>
          </a:p>
        </p:txBody>
      </p:sp>
      <p:sp>
        <p:nvSpPr>
          <p:cNvPr id="3" name="Content 4"/>
          <p:cNvSpPr txBox="1"/>
          <p:nvPr/>
        </p:nvSpPr>
        <p:spPr>
          <a:xfrm>
            <a:off x="1016000" y="1422400"/>
            <a:ext cx="10160000" cy="4226560"/>
          </a:xfrm>
        </p:spPr>
        <p:txBody>
          <a:bodyPr lIns="121920" tIns="121920" rIns="121920" bIns="121920" anchor="t"/>
          <a:lstStyle/>
          <a:p>
            <a:pPr marL="457189" indent="-304792">
              <a:buChar char="•"/>
            </a:pPr>
            <a:r>
              <a:rPr lang="en-US" sz="2200"/>
              <a:t>Decompiled MainActivity line 39:</a:t>
            </a:r>
          </a:p>
          <a:p>
            <a:pPr marL="457189" indent="-304792">
              <a:buChar char="•"/>
            </a:pPr>
            <a:r>
              <a:rPr lang="en-US" sz="2200"/>
              <a:t>webView.loadUrl("http://www.example.com");</a:t>
            </a:r>
          </a:p>
          <a:p>
            <a:pPr marL="457189" indent="-304792">
              <a:buChar char="•"/>
            </a:pPr>
            <a:r>
              <a:rPr lang="en-US" sz="2200"/>
              <a:t>Root problem: HTTP does not provide encryption, integrity, or server authentication</a:t>
            </a:r>
          </a:p>
          <a:p>
            <a:pPr marL="457189" indent="-304792">
              <a:buChar char="•"/>
            </a:pPr>
            <a:r>
              <a:rPr lang="en-US" sz="2200"/>
              <a:t>The first request and response can be observed by anyone on path</a:t>
            </a:r>
          </a:p>
          <a:p>
            <a:pPr marL="457189" indent="-304792">
              <a:buChar char="•"/>
            </a:pPr>
            <a:r>
              <a:rPr lang="en-US" sz="2200"/>
              <a:t>More importantly, the response can be modified before being rendered inside the app</a:t>
            </a:r>
          </a:p>
          <a:p>
            <a:pPr marL="457189" indent="-304792">
              <a:buChar char="•"/>
            </a:pPr>
            <a:r>
              <a:rPr lang="en-US" sz="2200"/>
              <a:t>Because the content appears inside the app, malicious replacement content may look trustworthy</a:t>
            </a:r>
          </a:p>
        </p:txBody>
      </p:sp>
      <p:sp>
        <p:nvSpPr>
          <p:cNvPr id="4" name="SpeakerNote 4"/>
          <p:cNvSpPr txBox="1"/>
          <p:nvPr/>
        </p:nvSpPr>
        <p:spPr>
          <a:xfrm>
            <a:off x="1016000" y="5852160"/>
            <a:ext cx="10160000" cy="487680"/>
          </a:xfrm>
        </p:spPr>
        <p:txBody>
          <a:bodyPr anchor="ctr"/>
          <a:lstStyle/>
          <a:p>
            <a:r>
              <a:rPr lang="en-US" sz="1600" i="1">
                <a:solidFill>
                  <a:srgbClr val="666666"/>
                </a:solidFill>
              </a:rPr>
              <a:t>Speaker 3: present the HTTP load evidence and explain why HTTP is unsafe for app-rendered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/>
          <p:nvPr/>
        </p:nvSpPr>
        <p:spPr>
          <a:xfrm>
            <a:off x="731520" y="390144"/>
            <a:ext cx="10728960" cy="853440"/>
          </a:xfrm>
        </p:spPr>
        <p:txBody>
          <a:bodyPr anchor="ctr"/>
          <a:lstStyle/>
          <a:p>
            <a:r>
              <a:rPr lang="en-US" sz="4000" b="1">
                <a:solidFill>
                  <a:srgbClr val="16324F"/>
                </a:solidFill>
              </a:rPr>
              <a:t>Evidence 2: TLS Error Bypass</a:t>
            </a:r>
          </a:p>
        </p:txBody>
      </p:sp>
      <p:sp>
        <p:nvSpPr>
          <p:cNvPr id="3" name="Content 5"/>
          <p:cNvSpPr txBox="1"/>
          <p:nvPr/>
        </p:nvSpPr>
        <p:spPr>
          <a:xfrm>
            <a:off x="1016000" y="1422400"/>
            <a:ext cx="10160000" cy="4226560"/>
          </a:xfrm>
        </p:spPr>
        <p:txBody>
          <a:bodyPr lIns="121920" tIns="121920" rIns="121920" bIns="121920" anchor="t"/>
          <a:lstStyle/>
          <a:p>
            <a:pPr marL="457189" indent="-304792">
              <a:buChar char="•"/>
            </a:pPr>
            <a:r>
              <a:rPr lang="en-US" sz="2200"/>
              <a:t>MainActivity overrides WebViewClient.onReceivedSslError()</a:t>
            </a:r>
          </a:p>
          <a:p>
            <a:pPr marL="457189" indent="-304792">
              <a:buChar char="•"/>
            </a:pPr>
            <a:r>
              <a:rPr lang="en-US" sz="2200"/>
              <a:t>Code path calls sslErrorHandler.proceed()</a:t>
            </a:r>
          </a:p>
          <a:p>
            <a:pPr marL="457189" indent="-304792">
              <a:buChar char="•"/>
            </a:pPr>
            <a:r>
              <a:rPr lang="en-US" sz="2200"/>
              <a:t>Expected secure behaviour: cancel the load when certificate validation fails</a:t>
            </a:r>
          </a:p>
          <a:p>
            <a:pPr marL="457189" indent="-304792">
              <a:buChar char="•"/>
            </a:pPr>
            <a:r>
              <a:rPr lang="en-US" sz="2200"/>
              <a:t>Risk: invalid, expired, self-signed, or attacker-supplied certificates are accepted by the WebView</a:t>
            </a:r>
          </a:p>
          <a:p>
            <a:pPr marL="457189" indent="-304792">
              <a:buChar char="•"/>
            </a:pPr>
            <a:r>
              <a:rPr lang="en-US" sz="2200"/>
              <a:t>A HostnameVerifier also returns true, but it is not attached to a live client in this path</a:t>
            </a:r>
          </a:p>
          <a:p>
            <a:pPr marL="457189" indent="-304792">
              <a:buChar char="•"/>
            </a:pPr>
            <a:r>
              <a:rPr lang="en-US" sz="2200"/>
              <a:t>We treat HostnameVerifier as dangerous supporting evidence, not the primary exploitable finding</a:t>
            </a:r>
          </a:p>
        </p:txBody>
      </p:sp>
      <p:sp>
        <p:nvSpPr>
          <p:cNvPr id="4" name="SpeakerNote 5"/>
          <p:cNvSpPr txBox="1"/>
          <p:nvPr/>
        </p:nvSpPr>
        <p:spPr>
          <a:xfrm>
            <a:off x="1016000" y="5852160"/>
            <a:ext cx="10160000" cy="487680"/>
          </a:xfrm>
        </p:spPr>
        <p:txBody>
          <a:bodyPr anchor="ctr"/>
          <a:lstStyle/>
          <a:p>
            <a:r>
              <a:rPr lang="en-US" sz="1600" i="1">
                <a:solidFill>
                  <a:srgbClr val="666666"/>
                </a:solidFill>
              </a:rPr>
              <a:t>Speaker 3/4: explain why proceed() defeats TLS protection and avoid overclaiming HostnameVerifier.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/>
          <p:cNvSpPr txBox="1"/>
          <p:nvPr/>
        </p:nvSpPr>
        <p:spPr>
          <a:xfrm>
            <a:off x="731520" y="390144"/>
            <a:ext cx="10728960" cy="853440"/>
          </a:xfrm>
        </p:spPr>
        <p:txBody>
          <a:bodyPr anchor="ctr"/>
          <a:lstStyle/>
          <a:p>
            <a:r>
              <a:rPr lang="en-US" sz="4000" b="1">
                <a:solidFill>
                  <a:srgbClr val="16324F"/>
                </a:solidFill>
              </a:rPr>
              <a:t>Impact and Attack Scenario</a:t>
            </a:r>
          </a:p>
        </p:txBody>
      </p:sp>
      <p:sp>
        <p:nvSpPr>
          <p:cNvPr id="3" name="Content 6"/>
          <p:cNvSpPr txBox="1"/>
          <p:nvPr/>
        </p:nvSpPr>
        <p:spPr>
          <a:xfrm>
            <a:off x="1016000" y="1422400"/>
            <a:ext cx="10160000" cy="4226560"/>
          </a:xfrm>
        </p:spPr>
        <p:txBody>
          <a:bodyPr lIns="121920" tIns="121920" rIns="121920" bIns="121920" anchor="t"/>
          <a:lstStyle/>
          <a:p>
            <a:pPr marL="457189" indent="-304792">
              <a:buChar char="•"/>
            </a:pPr>
            <a:r>
              <a:rPr lang="en-US" sz="2200"/>
              <a:t>Scenario 1: user opens app on public Wi-Fi or rogue hotspot</a:t>
            </a:r>
          </a:p>
          <a:p>
            <a:pPr marL="457189" indent="-304792">
              <a:buChar char="•"/>
            </a:pPr>
            <a:r>
              <a:rPr lang="en-US" sz="2200"/>
              <a:t>Scenario 2: app requests http://www.example.com in the WebView</a:t>
            </a:r>
          </a:p>
          <a:p>
            <a:pPr marL="457189" indent="-304792">
              <a:buChar char="•"/>
            </a:pPr>
            <a:r>
              <a:rPr lang="en-US" sz="2200"/>
              <a:t>Scenario 3: attacker intercepts and replaces the HTTP response</a:t>
            </a:r>
          </a:p>
          <a:p>
            <a:pPr marL="457189" indent="-304792">
              <a:buChar char="•"/>
            </a:pPr>
            <a:r>
              <a:rPr lang="en-US" sz="2200"/>
              <a:t>Possible injected content: fake login prompt, malicious link, tracking script, misleading instruction, redirect</a:t>
            </a:r>
          </a:p>
          <a:p>
            <a:pPr marL="457189" indent="-304792">
              <a:buChar char="•"/>
            </a:pPr>
            <a:r>
              <a:rPr lang="en-US" sz="2200"/>
              <a:t>TLS bypass increases risk if injected or later content navigates to HTTPS with an invalid certificate</a:t>
            </a:r>
          </a:p>
          <a:p>
            <a:pPr marL="457189" indent="-304792">
              <a:buChar char="•"/>
            </a:pPr>
            <a:r>
              <a:rPr lang="en-US" sz="2200"/>
              <a:t>Worst-case production impact: credential theft, session theft, data exposure, app UI manipulation</a:t>
            </a:r>
          </a:p>
        </p:txBody>
      </p:sp>
      <p:sp>
        <p:nvSpPr>
          <p:cNvPr id="4" name="SpeakerNote 6"/>
          <p:cNvSpPr txBox="1"/>
          <p:nvPr/>
        </p:nvSpPr>
        <p:spPr>
          <a:xfrm>
            <a:off x="1016000" y="5852160"/>
            <a:ext cx="10160000" cy="487680"/>
          </a:xfrm>
        </p:spPr>
        <p:txBody>
          <a:bodyPr anchor="ctr"/>
          <a:lstStyle/>
          <a:p>
            <a:r>
              <a:rPr lang="en-US" sz="1600" i="1">
                <a:solidFill>
                  <a:srgbClr val="666666"/>
                </a:solidFill>
              </a:rPr>
              <a:t>Speaker 4: walk through the attack chain and link it to concrete consequences.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/>
          <p:cNvSpPr txBox="1"/>
          <p:nvPr/>
        </p:nvSpPr>
        <p:spPr>
          <a:xfrm>
            <a:off x="731520" y="390144"/>
            <a:ext cx="10728960" cy="853440"/>
          </a:xfrm>
        </p:spPr>
        <p:txBody>
          <a:bodyPr anchor="ctr"/>
          <a:lstStyle/>
          <a:p>
            <a:r>
              <a:rPr lang="en-US" sz="4000" b="1">
                <a:solidFill>
                  <a:srgbClr val="16324F"/>
                </a:solidFill>
              </a:rPr>
              <a:t>Mitigation and Rubric Takeaway</a:t>
            </a:r>
          </a:p>
        </p:txBody>
      </p:sp>
      <p:sp>
        <p:nvSpPr>
          <p:cNvPr id="3" name="Content 7"/>
          <p:cNvSpPr txBox="1"/>
          <p:nvPr/>
        </p:nvSpPr>
        <p:spPr>
          <a:xfrm>
            <a:off x="1016000" y="1422400"/>
            <a:ext cx="10160000" cy="4226560"/>
          </a:xfrm>
        </p:spPr>
        <p:txBody>
          <a:bodyPr lIns="121920" tIns="121920" rIns="121920" bIns="121920" anchor="t"/>
          <a:lstStyle/>
          <a:p>
            <a:pPr marL="457189" indent="-304792">
              <a:buChar char="•"/>
            </a:pPr>
            <a:r>
              <a:rPr lang="en-US" sz="2200"/>
              <a:t>Root-cause fix: change http:// to https:// and require a valid TLS certificate</a:t>
            </a:r>
          </a:p>
          <a:p>
            <a:pPr marL="457189" indent="-304792">
              <a:buChar char="•"/>
            </a:pPr>
            <a:r>
              <a:rPr lang="en-US" sz="2200"/>
              <a:t>Config fix: set android:usesCleartextTraffic="false"</a:t>
            </a:r>
          </a:p>
          <a:p>
            <a:pPr marL="457189" indent="-304792">
              <a:buChar char="•"/>
            </a:pPr>
            <a:r>
              <a:rPr lang="en-US" sz="2200"/>
              <a:t>Defense in depth: use Network Security Configuration to allow only expected HTTPS domains</a:t>
            </a:r>
          </a:p>
          <a:p>
            <a:pPr marL="457189" indent="-304792">
              <a:buChar char="•"/>
            </a:pPr>
            <a:r>
              <a:rPr lang="en-US" sz="2200"/>
              <a:t>TLS fix: call handler.cancel() in onReceivedSslError(); do not call proceed()</a:t>
            </a:r>
          </a:p>
          <a:p>
            <a:pPr marL="457189" indent="-304792">
              <a:buChar char="•"/>
            </a:pPr>
            <a:r>
              <a:rPr lang="en-US" sz="2200"/>
              <a:t>Validation fix: remove always-true HostnameVerifier and rely on platform certificate/hostname checks</a:t>
            </a:r>
          </a:p>
          <a:p>
            <a:pPr marL="457189" indent="-304792">
              <a:buChar char="•"/>
            </a:pPr>
            <a:r>
              <a:rPr lang="en-US" sz="2200"/>
              <a:t>Takeaway: the app trusts network-delivered WebView content, so transport security is part of app security</a:t>
            </a:r>
          </a:p>
        </p:txBody>
      </p:sp>
      <p:sp>
        <p:nvSpPr>
          <p:cNvPr id="4" name="SpeakerNote 7"/>
          <p:cNvSpPr txBox="1"/>
          <p:nvPr/>
        </p:nvSpPr>
        <p:spPr>
          <a:xfrm>
            <a:off x="1016000" y="5852160"/>
            <a:ext cx="10160000" cy="487680"/>
          </a:xfrm>
        </p:spPr>
        <p:txBody>
          <a:bodyPr anchor="ctr"/>
          <a:lstStyle/>
          <a:p>
            <a:r>
              <a:rPr lang="en-US" sz="1600" i="1" dirty="0">
                <a:solidFill>
                  <a:srgbClr val="666666"/>
                </a:solidFill>
              </a:rPr>
              <a:t>Speaker 5: explain the fixes, which root cause each fix addresses, and close.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</Words>
  <Application>Microsoft Office PowerPoint</Application>
  <PresentationFormat>宽屏</PresentationFormat>
  <Paragraphs>52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沛森 郑</dc:creator>
  <cp:lastModifiedBy>沛森 郑</cp:lastModifiedBy>
  <cp:revision>2</cp:revision>
  <dcterms:created xsi:type="dcterms:W3CDTF">2026-04-19T06:59:05Z</dcterms:created>
  <dcterms:modified xsi:type="dcterms:W3CDTF">2026-04-19T07:00:24Z</dcterms:modified>
</cp:coreProperties>
</file>